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04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1 — Gesamtübersicht: Login &amp; Portal-Aufteilung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709160" y="594360"/>
            <a:ext cx="274320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09160" y="59436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</a:rPr>
              <a:t>Login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</a:rPr>
              <a:t>/v7/login  ·  login-page.tsx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379476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0" cy="41148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72618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451"/>
                </a:solidFill>
              </a:rPr>
              <a:t>Berater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1234440"/>
            <a:ext cx="288036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961120" y="1234440"/>
            <a:ext cx="0" cy="41148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06374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7D2E"/>
                </a:solidFill>
              </a:rPr>
              <a:t>← Firma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645920"/>
            <a:ext cx="502920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828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BERATER-PORTAL  (blau  #002451)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2011680"/>
            <a:ext cx="5029200" cy="50292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8288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 Redirect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berater-dashboard-redirect.tsx  →  /v7/berater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2514600"/>
            <a:ext cx="0" cy="32004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743200" y="25648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451"/>
                </a:solidFill>
              </a:rPr>
              <a:t>→ Dashboard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5029200" cy="59436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8288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451"/>
                </a:solidFill>
              </a:rPr>
              <a:t>Berater-Dashboard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2451"/>
                </a:solidFill>
              </a:rPr>
              <a:t>berater-dashboard-v7_4_4-6.tsx  ·  /v7/berater/dashboard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" y="3474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4A8A"/>
                </a:solidFill>
              </a:rPr>
              <a:t>Nav-Leiste: Zeiterfassungen | Administration (system_admin)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8288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Kundenfirmen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/berater/foerderung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6304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146304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Netzwerk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/berater/netzwerk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74320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Multiprojekt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(geplant)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02336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Forschungszulage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(geplant)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2451"/>
                </a:solidFill>
              </a:rPr>
              <a:t>→ Details: Slide 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1645920"/>
            <a:ext cx="502920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9494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FIRMEN-PORTAL  (grün  #65A655)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011680"/>
            <a:ext cx="5029200" cy="50292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94944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Firmen Redirect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v7-firma-page-redirect.tsx  →  /v7/firma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64040" y="2514600"/>
            <a:ext cx="0" cy="32004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509760" y="25648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7D2E"/>
                </a:solidFill>
              </a:rPr>
              <a:t>→ 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2834640"/>
            <a:ext cx="5029200" cy="59436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94944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7D2E"/>
                </a:solidFill>
              </a:rPr>
              <a:t>Firmen-Dashboard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7D2E"/>
                </a:solidFill>
              </a:rPr>
              <a:t>firma-dashboard-v7_3_92.tsx  ·  /v7/firma/dashboard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3474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5A655"/>
                </a:solidFill>
              </a:rPr>
              <a:t>Nav-Leiste: Mein Status | Zeiterfassung | Meine Projekte | Berichte | Mitarbeiter | Firmendaten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944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94944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Mein Status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/firma/mein-status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813816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Meine Projekte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/firma/projekte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2688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932688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Zeiterfassung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/firma/zeiterfassung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51560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1051560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Berichte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/firma/berichte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49440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D7D2E"/>
                </a:solidFill>
              </a:rPr>
              <a:t>→ Details: Slide 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2880" y="484632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182880" y="48463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DESIGN-REGEL: Header-Farbe zeigt "wer bin ICH" — bleibt immer Portal-Farbe, auch bei Ansicht fremder Daten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27432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system_admin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Berater: alles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6888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246888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consultant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Berater: eig. Kunden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466344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client_admin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Firma: alles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685800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project_leader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Firma: Projekte+Team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5256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905256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employee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Firma: eigene ZE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" y="5138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Rollen-System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2 — Berater-Portal: Navigationspfade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Berater-Portal  ·  Startpfad  →  Dashboard  →  Seiten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3200400" cy="50292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48056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451"/>
                </a:solidFill>
              </a:rPr>
              <a:t>Berater-Dashboard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2451"/>
                </a:solidFill>
              </a:rPr>
              <a:t>berater-dashboard-v7_4_4-6.tsx  ·  /v7/berater/dashboard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417320"/>
            <a:ext cx="429768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0" cy="27432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169164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0" cy="27432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11430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223760" y="141732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397764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0058400" y="141732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182880" y="1691640"/>
            <a:ext cx="2743200" cy="64008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828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Kundenfirmen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foerderung-page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/berater/foerderung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1691640"/>
            <a:ext cx="2743200" cy="64008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788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Netzwerkmanagement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berater-netzwerk-page-v7_4_5-1.tsx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/berater/netzwerk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1691640"/>
            <a:ext cx="2743200" cy="640080"/>
          </a:xfrm>
          <a:prstGeom prst="rect">
            <a:avLst/>
          </a:prstGeom>
          <a:solidFill>
            <a:srgbClr val="CCCCCC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6235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</a:rPr>
              <a:t>Multiprojekt-Tool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(in Vorbereitung Q2/2026)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58200" y="1691640"/>
            <a:ext cx="2743200" cy="640080"/>
          </a:xfrm>
          <a:prstGeom prst="rect">
            <a:avLst/>
          </a:prstGeom>
          <a:solidFill>
            <a:srgbClr val="CCCCCC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4582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</a:rPr>
              <a:t>Forschungszulage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(in Vorbereitung Q2/2026)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487168"/>
            <a:ext cx="1179576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82880" y="2487168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Nav-Leiste (oben): immer sichtbar für Berater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2852928"/>
            <a:ext cx="3474720" cy="54864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8288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Zeiterfassungen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/berater/timesheets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0" y="2852928"/>
            <a:ext cx="3474720" cy="54864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02336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Administration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/berater/admin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(nur system_admin)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547872"/>
            <a:ext cx="1179576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182880" y="3547872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Pfad: Kundenfirmen  -&gt;  Firma-Detail  -&gt;  Projekt / Berichte / Zeiterfassung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3913632"/>
            <a:ext cx="2834640" cy="47548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82880" y="3913632"/>
            <a:ext cx="2834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Kundenfirmen-Liste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foerderung-page  /berater/foerderung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4151376"/>
            <a:ext cx="731520" cy="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2926080" y="3950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2451"/>
                </a:solidFill>
              </a:rPr>
              <a:t>Firma klicken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49040" y="3913632"/>
            <a:ext cx="4114800" cy="47548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3749040" y="3913632"/>
            <a:ext cx="4114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451"/>
                </a:solidFill>
              </a:rPr>
              <a:t>Firma-Detail (Berater)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2451"/>
                </a:solidFill>
              </a:rPr>
              <a:t>berater-firma-detail-page-v7_4_4-3.tsx  /berater/foerderung/firma/[id]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00200" y="4389120"/>
            <a:ext cx="278892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1600200" y="4389120"/>
            <a:ext cx="0" cy="22860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5806440" y="4389120"/>
            <a:ext cx="0" cy="22860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7223760" y="4389120"/>
            <a:ext cx="233172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9555480" y="4389120"/>
            <a:ext cx="0" cy="22860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18288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18288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Projekt-Detail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ProjectDetailPage-v7_4_4-44.tsx (Shared)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/berater/foerderung/firma/[id]/projekt/[pid]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11480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 (Berater)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berater-berichte-page-wrapper-v7_4_4-24.tsx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/berater/foerderung/firma/[id]/berichte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3816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813816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Zeiterfassung (Firma)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berater-ze-seite-v7_4_0-3.tsx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/berater/foerderung/firma/[id]/zeiterfassung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79592" y="5184648"/>
            <a:ext cx="0" cy="192024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2743200" y="5376672"/>
            <a:ext cx="5943600" cy="38404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2743200" y="5376672"/>
            <a:ext cx="59436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Berichte-Tab (Shared): ProjektFortschrittPanel | ZAPanel-v7_4_4-26 | StundennachweisMatrix-v7_4_4-1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47672" y="5184648"/>
            <a:ext cx="0" cy="192024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4" name="Shape 52"/>
          <p:cNvSpPr/>
          <p:nvPr/>
        </p:nvSpPr>
        <p:spPr>
          <a:xfrm>
            <a:off x="182880" y="5376672"/>
            <a:ext cx="2423160" cy="38404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182880" y="5376672"/>
            <a:ext cx="2423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Tabs: Ubersicht|Arbeitsplan|Team|ZA|NWM|Berichte  (siehe Slide 4)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2880" y="5943600"/>
            <a:ext cx="117957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182880" y="594360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00"/>
                </a:solidFill>
              </a:rPr>
              <a:t>WICHTIG: Berater-Berichte-Route: /berater/foerderung/firma/[id]/berichte  -- NICHT /v7/berater/berichte (existiert nicht!)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3 — Firmen-Portal: Navigationspfade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Firmen-Portal  ·  Kumulative Navigation je nach Rolle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96112"/>
          <a:ext cx="1179576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Nav-Einträge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Besonderheit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Mein Status  |  Meine Zeiterfassung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eigene 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Meine Projekte  |  Berichte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 aller Team-MA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Mitarbeiter  |  Firmendaten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Alles inkl. MA-Anlage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7D2E"/>
                </a:solidFill>
              </a:rPr>
              <a:t>Firmen-Dashboard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7D2E"/>
                </a:solidFill>
              </a:rPr>
              <a:t>firma-dashboard-v7_3_92.tsx  ·  /v7/firma/dashboard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2788920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182880" y="2788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Nav-Pfade &amp; Seiten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18288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Mein Status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mein-status-page-v7_4_4-8.tsx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/v7/firma/mein-status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8288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65A655"/>
                </a:solidFill>
              </a:rPr>
              <a:t>alle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28600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22860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Zeiterfassung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zeiterfassung-page-v7_3_93.tsx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/v7/firma/zeiterfassung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65A655"/>
                </a:solidFill>
              </a:rPr>
              <a:t>alle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912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2E7D6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438912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Meine Projekte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page-firma-projekte-v7_3_89.tsx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/v7/firma/projekte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8912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2E7D6A"/>
                </a:solidFill>
              </a:rPr>
              <a:t>PL+Admin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49224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2E7D6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649224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Berichte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berichte-page-firma-wrapper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/v7/firma/berichte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9224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2E7D6A"/>
                </a:solidFill>
              </a:rPr>
              <a:t>PL+Admin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59536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1A5C3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859536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Mitarbeiter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EmployeeManagement-v7_3_95-4.tsx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/v7/firma/mitarbeiter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9536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1A5C3E"/>
                </a:solidFill>
              </a:rPr>
              <a:t>Admin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014984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1A5C3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1014984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Firmendaten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FirmendatenCard-v7_4_4-2.tsx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/v7/firma/firmendaten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14984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1A5C3E"/>
                </a:solidFill>
              </a:rPr>
              <a:t>Admin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82980" y="2651760"/>
            <a:ext cx="509778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98298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9"/>
          <p:cNvSpPr/>
          <p:nvPr/>
        </p:nvSpPr>
        <p:spPr>
          <a:xfrm>
            <a:off x="3086100" y="2651760"/>
            <a:ext cx="299466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0"/>
          <p:cNvSpPr/>
          <p:nvPr/>
        </p:nvSpPr>
        <p:spPr>
          <a:xfrm>
            <a:off x="308610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1"/>
          <p:cNvSpPr/>
          <p:nvPr/>
        </p:nvSpPr>
        <p:spPr>
          <a:xfrm>
            <a:off x="5189220" y="2651760"/>
            <a:ext cx="89154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518922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080760" y="2651760"/>
            <a:ext cx="121158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4"/>
          <p:cNvSpPr/>
          <p:nvPr/>
        </p:nvSpPr>
        <p:spPr>
          <a:xfrm>
            <a:off x="729234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5"/>
          <p:cNvSpPr/>
          <p:nvPr/>
        </p:nvSpPr>
        <p:spPr>
          <a:xfrm>
            <a:off x="182880" y="4224528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/>
          <p:nvPr/>
        </p:nvSpPr>
        <p:spPr>
          <a:xfrm>
            <a:off x="182880" y="4224528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Pfad: Meine Projekte  →  Projekt-Detail  →  Tabs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0" y="4526280"/>
            <a:ext cx="3931920" cy="56692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8"/>
          <p:cNvSpPr/>
          <p:nvPr/>
        </p:nvSpPr>
        <p:spPr>
          <a:xfrm>
            <a:off x="4114800" y="4526280"/>
            <a:ext cx="39319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Projekt-Detail (Firma)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ProjectDetailPage-v7_4_4-44.tsx (Shared Component)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/v7/firma/projekte/[id]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189220" y="3977640"/>
            <a:ext cx="0" cy="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0"/>
          <p:cNvSpPr/>
          <p:nvPr/>
        </p:nvSpPr>
        <p:spPr>
          <a:xfrm>
            <a:off x="4331970" y="3776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7D2E"/>
                </a:solidFill>
              </a:rPr>
              <a:t>Projekt klicken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8288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2"/>
          <p:cNvSpPr/>
          <p:nvPr/>
        </p:nvSpPr>
        <p:spPr>
          <a:xfrm>
            <a:off x="18288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Übersicht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FirmendatenCard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10312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4"/>
          <p:cNvSpPr/>
          <p:nvPr/>
        </p:nvSpPr>
        <p:spPr>
          <a:xfrm>
            <a:off x="210312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Arbeitsplan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WorkPackageTable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02336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46"/>
          <p:cNvSpPr/>
          <p:nvPr/>
        </p:nvSpPr>
        <p:spPr>
          <a:xfrm>
            <a:off x="402336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Team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ProjectTeamManager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94360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Text 48"/>
          <p:cNvSpPr/>
          <p:nvPr/>
        </p:nvSpPr>
        <p:spPr>
          <a:xfrm>
            <a:off x="594360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Zahlungsanforderung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ZAPanel-v7_4_4-26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13816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3" name="Text 50"/>
          <p:cNvSpPr/>
          <p:nvPr/>
        </p:nvSpPr>
        <p:spPr>
          <a:xfrm>
            <a:off x="813816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NWM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NWM-Panels (ZIM_NETZWERK)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1014984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Text 52"/>
          <p:cNvSpPr/>
          <p:nvPr/>
        </p:nvSpPr>
        <p:spPr>
          <a:xfrm>
            <a:off x="1014984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Berichte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BerichtePage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6080760" y="5093208"/>
            <a:ext cx="0" cy="118872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4"/>
          <p:cNvSpPr/>
          <p:nvPr/>
        </p:nvSpPr>
        <p:spPr>
          <a:xfrm>
            <a:off x="3200400" y="5897880"/>
            <a:ext cx="5760720" cy="50292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8" name="Text 55"/>
          <p:cNvSpPr/>
          <p:nvPr/>
        </p:nvSpPr>
        <p:spPr>
          <a:xfrm>
            <a:off x="3200400" y="5897880"/>
            <a:ext cx="5760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Berichte-Tab: ProjektFortschrittPanel | ZAPanel | StundennachweisMatrix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BerichtePage-v7_4_4-1.tsx (Shared)  ·  berichte-page-firma-wrapper-v7_4_4-27.tsx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182880" y="6492240"/>
            <a:ext cx="63093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7"/>
          <p:cNvSpPr/>
          <p:nvPr/>
        </p:nvSpPr>
        <p:spPr>
          <a:xfrm>
            <a:off x="182880" y="64922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00"/>
                </a:solidFill>
              </a:rPr>
              <a:t>ZA-Status-Flow: Entwurf → Eingereicht → Bewilligt  |  Rollback: Bewilligt → Eingereicht (geplant)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583680" y="6492240"/>
            <a:ext cx="53949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59"/>
          <p:cNvSpPr/>
          <p:nvPr/>
        </p:nvSpPr>
        <p:spPr>
          <a:xfrm>
            <a:off x="6583680" y="6492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00"/>
                </a:solidFill>
              </a:rPr>
              <a:t>Neues Projekt: /v7/firma/projekte/neu  ·  ProjectCreateForm-v7_3_82-9.tsx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4 — Shared Components: ProjectDetailPage &amp; Tabs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ProjectDetailPage-v7_4_4-44.tsx  —  Shared Component, von BEIDEN Portalen genutzt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5577840" cy="59436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82880" y="86868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Berater-Portal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/berater/foerderung/firma/[id]/projekt/[pid]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Header: BLAU (#002451)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868680"/>
            <a:ext cx="5577840" cy="59436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309360" y="86868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Firmen-Portal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/v7/firma/projekte/[id]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Header: GRÜN (#65A655)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463040"/>
            <a:ext cx="0" cy="22860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9098280" y="1463040"/>
            <a:ext cx="0" cy="22860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43200" y="1691640"/>
            <a:ext cx="6675120" cy="50292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66751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ProjectDetailPage  (Shared Component — portal-Parameter steuert Farbe)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</a:rPr>
              <a:t>src/components/shared/ProjectDetailPage.tsx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82880" y="2423160"/>
            <a:ext cx="117957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82880" y="242316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Tab-Struktur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828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Übersicht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FirmendatenCard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-v7_4_4-2.tsx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8288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Projektinfo, FKZ,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Förderformat, Laufzeit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28600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Arbeitsplan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WorkPackageTable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-v7_4_3-7.tsx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28600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Arbeitspakete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Excel-Import/Export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38912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ProjectTeamManager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-v7_4_4-5.tsx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MA zuordnen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Rolle im Projekt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9224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4922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ZA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ZAPanel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-v7_4_4-26.tsx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4922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Zahlungsanforderungen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Status-Flow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59536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859536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NWM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NWM-Panels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(ZIM_NETZWERK only)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9536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5953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Partner, Eigenanteil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NWM-Einstellungen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14984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101498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Berichte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BerichtePage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-v7_4_4-1.tsx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14984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101498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→ 3 Sub-Panels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(s.u.)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4069080"/>
            <a:ext cx="58521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182880" y="4069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ZA-Status-Fluss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2880" y="4315968"/>
            <a:ext cx="1645920" cy="457200"/>
          </a:xfrm>
          <a:prstGeom prst="rect">
            <a:avLst/>
          </a:prstGeom>
          <a:solidFill>
            <a:srgbClr val="FFF9C4"/>
          </a:solidFill>
          <a:ln w="15240">
            <a:solidFill>
              <a:srgbClr val="C8A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18288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Entwurf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0" y="4544568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2103120" y="4315968"/>
            <a:ext cx="1645920" cy="457200"/>
          </a:xfrm>
          <a:prstGeom prst="rect">
            <a:avLst/>
          </a:prstGeom>
          <a:solidFill>
            <a:srgbClr val="FFD180"/>
          </a:solidFill>
          <a:ln w="1524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210312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Eingereicht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49040" y="4544568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4023360" y="4315968"/>
            <a:ext cx="1645920" cy="457200"/>
          </a:xfrm>
          <a:prstGeom prst="rect">
            <a:avLst/>
          </a:prstGeom>
          <a:solidFill>
            <a:srgbClr val="C8E6C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402336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Bewilligt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0" y="4937760"/>
            <a:ext cx="1920240" cy="0"/>
          </a:xfrm>
          <a:prstGeom prst="line">
            <a:avLst/>
          </a:prstGeom>
          <a:noFill/>
          <a:ln w="15240">
            <a:solidFill>
              <a:srgbClr val="E07000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182880" y="497433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000"/>
                </a:solidFill>
              </a:rPr>
              <a:t>Rollback: Bewilligt→Eingereicht (geplant)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4069080"/>
            <a:ext cx="576072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6217920" y="4069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Berichte-Tab: Sub-Panels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21792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621792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ProjektFortschrittPanel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pze-projekt-fortschritt-panel-v7_4_5-4.tsx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Plan/Ist-Vergleich, Projektname, FKZ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2960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822960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ZAPanel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ZAPanel-v7_4_4-26.tsx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Zahlungsanf., Status, Berechnung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StundennachweisMatrix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StundennachweisMatrix-v7_4_4-1.tsx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Matrix: MA x Monat, Completion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525780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182880" y="525780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Weitere Shared Components &amp; globale Dateien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8288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5" name="Text 63"/>
          <p:cNvSpPr/>
          <p:nvPr/>
        </p:nvSpPr>
        <p:spPr>
          <a:xfrm>
            <a:off x="18288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TimesheetForm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-v7_4_3-12.tsx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ZE pro MA/Monat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228600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PortalHeader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-v7_3_95-3.tsx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Header blau/grün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8912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438912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PortalNav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-v7_4_4-1.tsx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Nav kumulative Rollen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9224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1" name="Text 69"/>
          <p:cNvSpPr/>
          <p:nvPr/>
        </p:nvSpPr>
        <p:spPr>
          <a:xfrm>
            <a:off x="649224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EmployeeManagement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-v7_3_95-4.tsx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MA + Login + PW-Reset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59536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3" name="Text 71"/>
          <p:cNvSpPr/>
          <p:nvPr/>
        </p:nvSpPr>
        <p:spPr>
          <a:xfrm>
            <a:off x="859536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WorkPackageTable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-v7_4_3-7.tsx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Arbeitsplan Excel-Style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14984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5" name="Text 73"/>
          <p:cNvSpPr/>
          <p:nvPr/>
        </p:nvSpPr>
        <p:spPr>
          <a:xfrm>
            <a:off x="1014984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v7-types.ts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v7-module-config.ts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v7-constants.ts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Typen / Modul-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konfig / Konstanten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5 — API-Routes, Kritische Pfade &amp; Offene Navigationspunkte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API-Routes  (intern — kein direktes UI)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8288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/api/v7/create-employee-login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create-employee-login-route-v7_3_95-1.ts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Atomar: Auth + Profil + Employee-Link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/api/v7/parse-zim-pdf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ZIM-PDF-Parser (Python/FastAPI)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Berater-Portal sichtbar, Firma versteckt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/api/v7/arbeitsplan-import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arbeitsplan-import-route-v7_3_87-final.ts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Excel → DB Import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23544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/api/v7/send-email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Resend.com  ·  smtp.resend.com:587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cubintec.pze@itenion.com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664208"/>
            <a:ext cx="2834640" cy="54864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8288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/api/v7/reset-password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PW-Reset für Mitarbeiter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von Admin auslösbar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377440"/>
            <a:ext cx="11795760" cy="320040"/>
          </a:xfrm>
          <a:prstGeom prst="rect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82880" y="237744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Kritische Pfade — bekannte Fehlerquellen oder Besonderheiten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265176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82880" y="265176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Berater-Berichte RICHTIGE Route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RICHTIG: /v7/berater/foerderung/firma/[id]/berichte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FALSCH:   /v7/berater/berichte  (existiert nicht!)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265176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172200" y="265176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RLS-Circular-Dependency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v7_user_profiles: SELECT Policy MUSS auth.uid()=id direkt verwenden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Keine Helper-Funktionen → Infinite Loop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61188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82880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Login-Erstellung: Feldnamen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client_company_id (NICHT company_id)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Role: client_user (NICHT employee)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3611880"/>
            <a:ext cx="5806440" cy="7772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172200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Header-Farbregel (absolut)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 sieht Firmendaten → Header BLEIBT BLAU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Firmen-Portal → Header IMMER GRÜN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4663440"/>
            <a:ext cx="117957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82880" y="466344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Geplante Erweiterungen (Navigation / neue Seiten)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Zuwendungsbescheid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Neues Feld: Bewilligungsdatum + -summe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In Projektdetails + ZAPanel → DB-Migration + UI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20040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Gestaffelte Förderquoten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ZIM_NETZWERK: foerdersatz_stufen (JSONB)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UI nur für ZIM_NETZWERK sichtbar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21792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ZA-Rollback-Button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Bewilligt → Eingereicht (direkt)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Aktuell: nur Bewilligt → Entwurf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3544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23544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Berater-Portal Manual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PDF Benutzeranleitung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Analog zu Firmen-Admin/PL/MA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18288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Multiprojekt-Tool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173h-Prüfung: MA über alle Projekte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Q2/2026 geplant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320040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Forschungszulage-Modul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FZul-Analyse aus Timesheet-Daten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Q2/2026 geplant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621792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Separate PROD-DB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Eigene Supabase-Instanz PZE-production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Vercel ENV-Vars je Branch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Microsoft Macintosh PowerPoint</Application>
  <PresentationFormat>Breitbild</PresentationFormat>
  <Paragraphs>288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PZE V7 - Navigationsstruktur</dc:title>
  <dc:subject>PptxGenJS Presentation</dc:subject>
  <dc:creator>PptxGenJS</dc:creator>
  <cp:lastModifiedBy>Martin Ditscherlein</cp:lastModifiedBy>
  <cp:revision>2</cp:revision>
  <dcterms:created xsi:type="dcterms:W3CDTF">2026-04-13T09:23:35Z</dcterms:created>
  <dcterms:modified xsi:type="dcterms:W3CDTF">2026-04-13T09:29:11Z</dcterms:modified>
</cp:coreProperties>
</file>